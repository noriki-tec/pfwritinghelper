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8253690-0c2a-beea-a789-46e7955c1071}">
          <p14:sldIdLst>
            <p14:sldId id="256"/>
            <p14:sldId id="257"/>
          </p14:sldIdLst>
        </p14:section>
        <p14:section name="Findings" id="{8027f2da-a72f-881f-7fc4-fbde205fbfa1}">
          <p14:sldIdLst>
            <p14:sldId id="258"/>
            <p14:sldId id="259"/>
            <p14:sldId id="260"/>
            <p14:sldId id="261"/>
          </p14:sldIdLst>
        </p14:section>
        <p14:section name="Discussion" id="{9d0b4b53-c710-73b9-23b0-bf12b37723e2}">
          <p14:sldIdLst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40480"/>
            <a:ext cx="10515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Fraser Street Medical · Wave 1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i="1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5"/>
                </a:solidFill>
              </a:rPr>
              <a:t>WAVE 1 · RAPID CLINIC SUMMARY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8288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Fraser Street Medical Rapid Clinic Summary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8404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bg2"/>
                </a:solidFill>
              </a:rPr>
              <a:t>~ 1st Wave ~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October 1, 2026  ·  Noriki Kamihiro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Purpose And Source Base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4"/>
                </a:solidFill>
              </a:rPr>
              <a:t>A short discussion aid, not a final evaluation — meant to support clinic sense-checking</a:t>
            </a:r>
            <a:endParaRPr lang="en-US" sz="1600" dirty="0"/>
          </a:p>
        </p:txBody>
      </p:sp>
      <p:sp>
        <p:nvSpPr>
          <p:cNvPr id="4" name="Patient interviews card"/>
          <p:cNvSpPr/>
          <p:nvPr/>
        </p:nvSpPr>
        <p:spPr>
          <a:xfrm>
            <a:off x="548640" y="2103120"/>
            <a:ext cx="2533574" cy="3840480"/>
          </a:xfrm>
          <a:prstGeom prst="roundRect">
            <a:avLst>
              <a:gd name="adj" fmla="val 4331"/>
            </a:avLst>
          </a:prstGeom>
          <a:solidFill>
            <a:schemeClr val="accent2"/>
          </a:solidFill>
          <a:ln/>
        </p:spPr>
      </p:sp>
      <p:sp>
        <p:nvSpPr>
          <p:cNvPr id="5" name="Patient interviews circle"/>
          <p:cNvSpPr/>
          <p:nvPr/>
        </p:nvSpPr>
        <p:spPr>
          <a:xfrm>
            <a:off x="868680" y="242316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Patient interview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" y="2613355"/>
            <a:ext cx="351130" cy="351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291840"/>
            <a:ext cx="189349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389120"/>
            <a:ext cx="18934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Patient interviews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5120640"/>
            <a:ext cx="18934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None collected in Wave 1 — key gap</a:t>
            </a:r>
            <a:endParaRPr lang="en-US" sz="1400" dirty="0"/>
          </a:p>
        </p:txBody>
      </p:sp>
      <p:sp>
        <p:nvSpPr>
          <p:cNvPr id="10" name="Provider interviews card"/>
          <p:cNvSpPr/>
          <p:nvPr/>
        </p:nvSpPr>
        <p:spPr>
          <a:xfrm>
            <a:off x="3402254" y="2103120"/>
            <a:ext cx="2533574" cy="3840480"/>
          </a:xfrm>
          <a:prstGeom prst="roundRect">
            <a:avLst>
              <a:gd name="adj" fmla="val 4331"/>
            </a:avLst>
          </a:prstGeom>
          <a:solidFill>
            <a:schemeClr val="bg2"/>
          </a:solidFill>
          <a:ln/>
        </p:spPr>
      </p:sp>
      <p:sp>
        <p:nvSpPr>
          <p:cNvPr id="11" name="Provider interviews circle"/>
          <p:cNvSpPr/>
          <p:nvPr/>
        </p:nvSpPr>
        <p:spPr>
          <a:xfrm>
            <a:off x="3722294" y="242316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Provider interview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2489" y="261335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722294" y="3291840"/>
            <a:ext cx="189349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600" dirty="0"/>
          </a:p>
        </p:txBody>
      </p:sp>
      <p:sp>
        <p:nvSpPr>
          <p:cNvPr id="14" name="Text 10"/>
          <p:cNvSpPr txBox="1"/>
          <p:nvPr/>
        </p:nvSpPr>
        <p:spPr>
          <a:xfrm>
            <a:off x="3722294" y="4389120"/>
            <a:ext cx="18934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Provider interviews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3722294" y="5120640"/>
            <a:ext cx="18934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Pharmacist, Family NP, Medical Director, RN</a:t>
            </a:r>
            <a:endParaRPr lang="en-US" sz="1400" dirty="0"/>
          </a:p>
        </p:txBody>
      </p:sp>
      <p:sp>
        <p:nvSpPr>
          <p:cNvPr id="16" name="Observation notes card"/>
          <p:cNvSpPr/>
          <p:nvPr/>
        </p:nvSpPr>
        <p:spPr>
          <a:xfrm>
            <a:off x="6255868" y="2103120"/>
            <a:ext cx="2533574" cy="3840480"/>
          </a:xfrm>
          <a:prstGeom prst="roundRect">
            <a:avLst>
              <a:gd name="adj" fmla="val 4331"/>
            </a:avLst>
          </a:prstGeom>
          <a:solidFill>
            <a:schemeClr val="bg2"/>
          </a:solidFill>
          <a:ln/>
        </p:spPr>
      </p:sp>
      <p:sp>
        <p:nvSpPr>
          <p:cNvPr id="17" name="Observation notes circle"/>
          <p:cNvSpPr/>
          <p:nvPr/>
        </p:nvSpPr>
        <p:spPr>
          <a:xfrm>
            <a:off x="6575908" y="242316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Observation notes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103" y="2613355"/>
            <a:ext cx="351130" cy="35113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575908" y="3291840"/>
            <a:ext cx="189349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600" dirty="0"/>
          </a:p>
        </p:txBody>
      </p:sp>
      <p:sp>
        <p:nvSpPr>
          <p:cNvPr id="20" name="Text 15"/>
          <p:cNvSpPr txBox="1"/>
          <p:nvPr/>
        </p:nvSpPr>
        <p:spPr>
          <a:xfrm>
            <a:off x="6575908" y="4389120"/>
            <a:ext cx="18934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Observation notes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6575908" y="5120640"/>
            <a:ext cx="18934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MOA Team Meeting and Clinic Tour fieldnotes</a:t>
            </a:r>
            <a:endParaRPr lang="en-US" sz="1400" dirty="0"/>
          </a:p>
        </p:txBody>
      </p:sp>
      <p:sp>
        <p:nvSpPr>
          <p:cNvPr id="22" name="Clinic documents card"/>
          <p:cNvSpPr/>
          <p:nvPr/>
        </p:nvSpPr>
        <p:spPr>
          <a:xfrm>
            <a:off x="9109481" y="2103120"/>
            <a:ext cx="2533574" cy="3840480"/>
          </a:xfrm>
          <a:prstGeom prst="roundRect">
            <a:avLst>
              <a:gd name="adj" fmla="val 4331"/>
            </a:avLst>
          </a:prstGeom>
          <a:solidFill>
            <a:schemeClr val="bg2"/>
          </a:solidFill>
          <a:ln/>
        </p:spPr>
      </p:sp>
      <p:sp>
        <p:nvSpPr>
          <p:cNvPr id="23" name="Clinic documents circle"/>
          <p:cNvSpPr/>
          <p:nvPr/>
        </p:nvSpPr>
        <p:spPr>
          <a:xfrm>
            <a:off x="9429521" y="242316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4" name="Clinic documents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9717" y="2613355"/>
            <a:ext cx="351130" cy="35113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429521" y="3291840"/>
            <a:ext cx="189349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600" dirty="0"/>
          </a:p>
        </p:txBody>
      </p:sp>
      <p:sp>
        <p:nvSpPr>
          <p:cNvPr id="26" name="Text 20"/>
          <p:cNvSpPr txBox="1"/>
          <p:nvPr/>
        </p:nvSpPr>
        <p:spPr>
          <a:xfrm>
            <a:off x="9429521" y="4389120"/>
            <a:ext cx="18934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Clinic documents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9429521" y="5120640"/>
            <a:ext cx="18934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None reviewed yet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Overall Read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4"/>
                </a:solidFill>
              </a:rPr>
              <a:t>Deep community roots, real innovation — and growing fragility</a:t>
            </a:r>
            <a:endParaRPr lang="en-US" sz="1600" dirty="0"/>
          </a:p>
        </p:txBody>
      </p:sp>
      <p:sp>
        <p:nvSpPr>
          <p:cNvPr id="4" name="Who they are card"/>
          <p:cNvSpPr/>
          <p:nvPr/>
        </p:nvSpPr>
        <p:spPr>
          <a:xfrm>
            <a:off x="548640" y="1828800"/>
            <a:ext cx="3454298" cy="4343400"/>
          </a:xfrm>
          <a:prstGeom prst="roundRect">
            <a:avLst>
              <a:gd name="adj" fmla="val 3177"/>
            </a:avLst>
          </a:prstGeom>
          <a:solidFill>
            <a:schemeClr val="bg2"/>
          </a:solidFill>
          <a:ln/>
        </p:spPr>
      </p:sp>
      <p:sp>
        <p:nvSpPr>
          <p:cNvPr id="5" name="Who they are circle"/>
          <p:cNvSpPr/>
          <p:nvPr/>
        </p:nvSpPr>
        <p:spPr>
          <a:xfrm>
            <a:off x="914400" y="21945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Who they ar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482" y="2396642"/>
            <a:ext cx="373075" cy="3730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315468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they are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703320"/>
            <a:ext cx="272277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long-established, physician-owned community practice with deep roots in East Vancouver's immigrant and lower-SES community.</a:t>
            </a:r>
            <a:endParaRPr lang="en-US" sz="1500" dirty="0"/>
          </a:p>
        </p:txBody>
      </p:sp>
      <p:sp>
        <p:nvSpPr>
          <p:cNvPr id="9" name="What they've built card"/>
          <p:cNvSpPr/>
          <p:nvPr/>
        </p:nvSpPr>
        <p:spPr>
          <a:xfrm>
            <a:off x="4368698" y="1828800"/>
            <a:ext cx="3454298" cy="4343400"/>
          </a:xfrm>
          <a:prstGeom prst="roundRect">
            <a:avLst>
              <a:gd name="adj" fmla="val 3177"/>
            </a:avLst>
          </a:prstGeom>
          <a:solidFill>
            <a:schemeClr val="bg2"/>
          </a:solidFill>
          <a:ln/>
        </p:spPr>
      </p:sp>
      <p:sp>
        <p:nvSpPr>
          <p:cNvPr id="10" name="What they've built circle"/>
          <p:cNvSpPr/>
          <p:nvPr/>
        </p:nvSpPr>
        <p:spPr>
          <a:xfrm>
            <a:off x="4734458" y="219456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What they've built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6541" y="239664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34458" y="315468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they've built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734458" y="3703320"/>
            <a:ext cx="272277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genuinely innovative team-based model — pharmacy integration, NP-led QI, virtual MOA support from the Philippines, hybrid telemedicine — largely through the Medical Director's personal commitment and with no government support.</a:t>
            </a:r>
            <a:endParaRPr lang="en-US" sz="1500" dirty="0"/>
          </a:p>
        </p:txBody>
      </p:sp>
      <p:sp>
        <p:nvSpPr>
          <p:cNvPr id="14" name="The primary threat card"/>
          <p:cNvSpPr/>
          <p:nvPr/>
        </p:nvSpPr>
        <p:spPr>
          <a:xfrm>
            <a:off x="8188757" y="1828800"/>
            <a:ext cx="3454298" cy="4343400"/>
          </a:xfrm>
          <a:prstGeom prst="roundRect">
            <a:avLst>
              <a:gd name="adj" fmla="val 3177"/>
            </a:avLst>
          </a:prstGeom>
          <a:solidFill>
            <a:schemeClr val="bg2"/>
          </a:solidFill>
          <a:ln/>
        </p:spPr>
      </p:sp>
      <p:sp>
        <p:nvSpPr>
          <p:cNvPr id="15" name="The primary threat circle"/>
          <p:cNvSpPr/>
          <p:nvPr/>
        </p:nvSpPr>
        <p:spPr>
          <a:xfrm>
            <a:off x="8554517" y="219456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The primary threat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6599" y="239664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554517" y="315468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primary threat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554517" y="3703320"/>
            <a:ext cx="272277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Systemic: team-based care is an unfunded, unrecognized mandate. Innovation without infrastructure is creating fragility in leadership, MOA confidence, and staff well-being.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How The Clinic's Model Seems To Work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4"/>
                </a:solidFill>
              </a:rPr>
              <a:t>A hybrid, distributed model built on informal trust, pharmacy integration, and innovative remote staffing</a:t>
            </a:r>
            <a:endParaRPr lang="en-US" sz="1600" dirty="0"/>
          </a:p>
        </p:txBody>
      </p:sp>
      <p:sp>
        <p:nvSpPr>
          <p:cNvPr id="4" name="Hybrid Telemedicine card"/>
          <p:cNvSpPr/>
          <p:nvPr/>
        </p:nvSpPr>
        <p:spPr>
          <a:xfrm>
            <a:off x="548640" y="1828800"/>
            <a:ext cx="5364328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5" name="Hybrid Telemedicine circle"/>
          <p:cNvSpPr/>
          <p:nvPr/>
        </p:nvSpPr>
        <p:spPr>
          <a:xfrm>
            <a:off x="822960" y="2167128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Hybrid Telemedicin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" y="2357323"/>
            <a:ext cx="351130" cy="351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1965960"/>
            <a:ext cx="390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Hybrid Telemedicine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2286000"/>
            <a:ext cx="3901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About half of clinicians rotate between in-office and remote days, each paired with 1–2 MOAs to maintain continuity.</a:t>
            </a:r>
            <a:endParaRPr lang="en-US" sz="1400" dirty="0"/>
          </a:p>
        </p:txBody>
      </p:sp>
      <p:sp>
        <p:nvSpPr>
          <p:cNvPr id="9" name="Pharmacy Integration card"/>
          <p:cNvSpPr/>
          <p:nvPr/>
        </p:nvSpPr>
        <p:spPr>
          <a:xfrm>
            <a:off x="6278728" y="1828800"/>
            <a:ext cx="5364328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0" name="Pharmacy Integration circle"/>
          <p:cNvSpPr/>
          <p:nvPr/>
        </p:nvSpPr>
        <p:spPr>
          <a:xfrm>
            <a:off x="6553048" y="2167128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Pharmacy Integration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243" y="2357323"/>
            <a:ext cx="351130" cy="35113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513168" y="1965960"/>
            <a:ext cx="390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Pharmacy Integration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7513168" y="2286000"/>
            <a:ext cx="3901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adjacent pharmacy shares EMR access and provides expanded services (minor ailments, injections, chronic disease, outreach).</a:t>
            </a:r>
            <a:endParaRPr lang="en-US" sz="1400" dirty="0"/>
          </a:p>
        </p:txBody>
      </p:sp>
      <p:sp>
        <p:nvSpPr>
          <p:cNvPr id="14" name="Virtual MOA Support card"/>
          <p:cNvSpPr/>
          <p:nvPr/>
        </p:nvSpPr>
        <p:spPr>
          <a:xfrm>
            <a:off x="548640" y="3383280"/>
            <a:ext cx="5364328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5" name="Virtual MOA Support circle"/>
          <p:cNvSpPr/>
          <p:nvPr/>
        </p:nvSpPr>
        <p:spPr>
          <a:xfrm>
            <a:off x="822960" y="3721608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Virtual MOA Support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55" y="3911803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83080" y="3520440"/>
            <a:ext cx="390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Virtual MOA Support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1783080" y="3840480"/>
            <a:ext cx="3901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Two remote MOAs in the Philippines manage 200+ daily faxes, freeing on-site staff for patient-facing work.</a:t>
            </a:r>
            <a:endParaRPr lang="en-US" sz="1400" dirty="0"/>
          </a:p>
        </p:txBody>
      </p:sp>
      <p:sp>
        <p:nvSpPr>
          <p:cNvPr id="19" name="NP-Led QI card"/>
          <p:cNvSpPr/>
          <p:nvPr/>
        </p:nvSpPr>
        <p:spPr>
          <a:xfrm>
            <a:off x="6278728" y="3383280"/>
            <a:ext cx="5364328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20" name="NP-Led QI circle"/>
          <p:cNvSpPr/>
          <p:nvPr/>
        </p:nvSpPr>
        <p:spPr>
          <a:xfrm>
            <a:off x="6553048" y="3721608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NP-Led QI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243" y="3911803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513168" y="3520440"/>
            <a:ext cx="390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NP-Led QI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7513168" y="3840480"/>
            <a:ext cx="3901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family NP mines EMR data for care gaps (e.g., uncontrolled diabetes) and works with the pharmacist to optimize pharmacotherapy.</a:t>
            </a:r>
            <a:endParaRPr lang="en-US" sz="1400" dirty="0"/>
          </a:p>
        </p:txBody>
      </p:sp>
      <p:sp>
        <p:nvSpPr>
          <p:cNvPr id="24" name="RN highlight card"/>
          <p:cNvSpPr/>
          <p:nvPr/>
        </p:nvSpPr>
        <p:spPr>
          <a:xfrm>
            <a:off x="548640" y="5074920"/>
            <a:ext cx="11094415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</p:sp>
      <p:sp>
        <p:nvSpPr>
          <p:cNvPr id="25" name="RN Pre-Visit circle"/>
          <p:cNvSpPr/>
          <p:nvPr/>
        </p:nvSpPr>
        <p:spPr>
          <a:xfrm>
            <a:off x="822960" y="53035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6" name="RN Pre-Visit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155" y="5493715"/>
            <a:ext cx="351130" cy="35113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783080" y="5257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RN Pre-Visit Assessments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1783080" y="56235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The newly integrated RN conducts pre-visit assessments that dramatically shorten physician visits.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6675120" y="51663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15–20 min</a:t>
            </a:r>
            <a:pPr algn="r" indent="0" marL="0">
              <a:buNone/>
            </a:pPr>
            <a:r>
              <a:rPr lang="en-US" sz="2600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pPr algn="r" indent="0" marL="0">
              <a:buNone/>
            </a:pPr>
            <a:r>
              <a:rPr lang="en-US" sz="3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&lt;5 min</a:t>
            </a:r>
            <a:endParaRPr lang="en-US" sz="2600" dirty="0"/>
          </a:p>
        </p:txBody>
      </p:sp>
      <p:sp>
        <p:nvSpPr>
          <p:cNvPr id="30" name="Text 23"/>
          <p:cNvSpPr txBox="1"/>
          <p:nvPr/>
        </p:nvSpPr>
        <p:spPr>
          <a:xfrm>
            <a:off x="6675120" y="5852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physician visit time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What Seems To Be Working Well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4"/>
                </a:solidFill>
              </a:rPr>
              <a:t>Strongest assets: community embeddedness, pharmacy partnership, and entrepreneurial adaptability</a:t>
            </a:r>
            <a:endParaRPr lang="en-US" sz="1600" dirty="0"/>
          </a:p>
        </p:txBody>
      </p:sp>
      <p:sp>
        <p:nvSpPr>
          <p:cNvPr id="4" name="Community Embeddedness card"/>
          <p:cNvSpPr/>
          <p:nvPr/>
        </p:nvSpPr>
        <p:spPr>
          <a:xfrm>
            <a:off x="548640" y="1920240"/>
            <a:ext cx="348477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5" name="Community Embeddedness circle"/>
          <p:cNvSpPr/>
          <p:nvPr/>
        </p:nvSpPr>
        <p:spPr>
          <a:xfrm>
            <a:off x="822960" y="21945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Community Embeddednes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236098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194560"/>
            <a:ext cx="2204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Community Embeddedness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71800"/>
            <a:ext cx="2936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30+ years in the same neighbourhood creates exceptional patient trust and longitudinal continuity of care.</a:t>
            </a:r>
            <a:endParaRPr lang="en-US" sz="1400" dirty="0"/>
          </a:p>
        </p:txBody>
      </p:sp>
      <p:sp>
        <p:nvSpPr>
          <p:cNvPr id="9" name="Pharmacy-Clinic Collaboration card"/>
          <p:cNvSpPr/>
          <p:nvPr/>
        </p:nvSpPr>
        <p:spPr>
          <a:xfrm>
            <a:off x="4353458" y="1920240"/>
            <a:ext cx="348477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0" name="Pharmacy-Clinic Collaboration circle"/>
          <p:cNvSpPr/>
          <p:nvPr/>
        </p:nvSpPr>
        <p:spPr>
          <a:xfrm>
            <a:off x="4627778" y="21945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Pharmacy-Clinic Collaboration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199" y="236098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05018" y="2194560"/>
            <a:ext cx="2204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Pharmacy-Clinic Collaboration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627778" y="2971800"/>
            <a:ext cx="2936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Shared EMR and expanding pharmacist scope enable seamless, non-duplicated, interprofessional care.</a:t>
            </a:r>
            <a:endParaRPr lang="en-US" sz="1400" dirty="0"/>
          </a:p>
        </p:txBody>
      </p:sp>
      <p:sp>
        <p:nvSpPr>
          <p:cNvPr id="14" name="Virtual MOA Innovation card"/>
          <p:cNvSpPr/>
          <p:nvPr/>
        </p:nvSpPr>
        <p:spPr>
          <a:xfrm>
            <a:off x="8158277" y="1920240"/>
            <a:ext cx="348477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5" name="Virtual MOA Innovation circle"/>
          <p:cNvSpPr/>
          <p:nvPr/>
        </p:nvSpPr>
        <p:spPr>
          <a:xfrm>
            <a:off x="8432597" y="21945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Virtual MOA Innovation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018" y="236098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209837" y="2194560"/>
            <a:ext cx="2204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Virtual MOA Innovation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432597" y="2971800"/>
            <a:ext cx="2936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Offshore MOA staffing reduces administrative overload and overhead — a novel response to funding constraints.</a:t>
            </a:r>
            <a:endParaRPr lang="en-US" sz="1400" dirty="0"/>
          </a:p>
        </p:txBody>
      </p:sp>
      <p:sp>
        <p:nvSpPr>
          <p:cNvPr id="19" name="NP and RN Integration card"/>
          <p:cNvSpPr/>
          <p:nvPr/>
        </p:nvSpPr>
        <p:spPr>
          <a:xfrm>
            <a:off x="2451049" y="4251960"/>
            <a:ext cx="348477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0" name="NP and RN Integration circle"/>
          <p:cNvSpPr/>
          <p:nvPr/>
        </p:nvSpPr>
        <p:spPr>
          <a:xfrm>
            <a:off x="2725369" y="45262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NP and RN Integration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1790" y="469270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3502609" y="4526280"/>
            <a:ext cx="2204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NP and RN Integration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2725369" y="5303520"/>
            <a:ext cx="2936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Both roles are driving meaningful efficiency and quality gains within a short time of being introduced.</a:t>
            </a:r>
            <a:endParaRPr lang="en-US" sz="1400" dirty="0"/>
          </a:p>
        </p:txBody>
      </p:sp>
      <p:sp>
        <p:nvSpPr>
          <p:cNvPr id="24" name="Informal Trust and Teamwork card"/>
          <p:cNvSpPr/>
          <p:nvPr/>
        </p:nvSpPr>
        <p:spPr>
          <a:xfrm>
            <a:off x="6255868" y="4251960"/>
            <a:ext cx="348477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5" name="Informal Trust and Teamwork circle"/>
          <p:cNvSpPr/>
          <p:nvPr/>
        </p:nvSpPr>
        <p:spPr>
          <a:xfrm>
            <a:off x="6530188" y="45262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nformal Trust and Teamwork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6608" y="4692701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307428" y="4526280"/>
            <a:ext cx="2204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Informal Trust and Teamwork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6530188" y="5303520"/>
            <a:ext cx="2936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Without formal structures, the team has built genuine collaboration and willingness to cross role boundaries.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Main Pressures and Tensions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4"/>
                </a:solidFill>
              </a:rPr>
              <a:t>Most pressures trace back to innovation without funding or infrastructure</a:t>
            </a:r>
            <a:endParaRPr lang="en-US" sz="1600" dirty="0"/>
          </a:p>
        </p:txBody>
      </p:sp>
      <p:graphicFrame>
        <p:nvGraphicFramePr>
          <p:cNvPr id="7" name="Pressur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85455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Pressure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shows 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Unfunded Team-Based Care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Medical Director carries the full burden of building and sustaining the team model with no government recognition or compensation.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Leadership Inconsistency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Inconsistent policy enforcement erodes MOA confidence; the RN informally fills the management gap, creating unclear role boundaries.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Transition Burden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MOAs absorb the full load of educating patients on kiosks, online booking, and Oceans messaging — without additional support.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Siloed EMR Systems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BC's EMR infrastructure does not connect across clinics, limiting care coordination and broader health system integration.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Expanding Scope vs. No Funding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Government expands pharmacist scope but provides no public funding for clinical services, leaving gaps in implementation.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Patient Data (Wave 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patient interviews means the patient experience, access barriers, and community fit are entirely uncharacterized.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Checkpoint Next Steps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4"/>
                </a:solidFill>
              </a:rPr>
              <a:t>Four questions to explore with the clinic</a:t>
            </a:r>
            <a:endParaRPr lang="en-US" sz="1600" dirty="0"/>
          </a:p>
        </p:txBody>
      </p:sp>
      <p:sp>
        <p:nvSpPr>
          <p:cNvPr id="4" name="Leadership burden card"/>
          <p:cNvSpPr/>
          <p:nvPr/>
        </p:nvSpPr>
        <p:spPr>
          <a:xfrm>
            <a:off x="548640" y="1920240"/>
            <a:ext cx="5364328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5" name="Leadership burden number circle"/>
          <p:cNvSpPr/>
          <p:nvPr/>
        </p:nvSpPr>
        <p:spPr>
          <a:xfrm>
            <a:off x="822960" y="21945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19456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Leadership burden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481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How is the burden of team-based care leadership currently distributed — and what would make it more sustainable for the Medical Director?</a:t>
            </a:r>
            <a:endParaRPr lang="en-US" sz="1400" dirty="0"/>
          </a:p>
        </p:txBody>
      </p:sp>
      <p:sp>
        <p:nvSpPr>
          <p:cNvPr id="9" name="Consistency &amp; confidence card"/>
          <p:cNvSpPr/>
          <p:nvPr/>
        </p:nvSpPr>
        <p:spPr>
          <a:xfrm>
            <a:off x="6278728" y="1920240"/>
            <a:ext cx="5364328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0" name="Consistency &amp; confidence number circle"/>
          <p:cNvSpPr/>
          <p:nvPr/>
        </p:nvSpPr>
        <p:spPr>
          <a:xfrm>
            <a:off x="6553048" y="21945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53048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376008" y="219456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Consistency &amp; confidence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53048" y="2926080"/>
            <a:ext cx="481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What structures or supports would help improve leadership consistency and rebuild MOA confidence in clinic policies and workflows?</a:t>
            </a:r>
            <a:endParaRPr lang="en-US" sz="1400" dirty="0"/>
          </a:p>
        </p:txBody>
      </p:sp>
      <p:sp>
        <p:nvSpPr>
          <p:cNvPr id="14" name="Digital transition card"/>
          <p:cNvSpPr/>
          <p:nvPr/>
        </p:nvSpPr>
        <p:spPr>
          <a:xfrm>
            <a:off x="548640" y="4069080"/>
            <a:ext cx="5364328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5" name="Digital transition number circle"/>
          <p:cNvSpPr/>
          <p:nvPr/>
        </p:nvSpPr>
        <p:spPr>
          <a:xfrm>
            <a:off x="822960" y="43434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34340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Digital transition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74920"/>
            <a:ext cx="481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How can the digital transition (kiosks, online booking, Oceans) be better supported so MOAs and patients are not left to navigate it alone?</a:t>
            </a:r>
            <a:endParaRPr lang="en-US" sz="1400" dirty="0"/>
          </a:p>
        </p:txBody>
      </p:sp>
      <p:sp>
        <p:nvSpPr>
          <p:cNvPr id="19" name="Virtual MOA model card"/>
          <p:cNvSpPr/>
          <p:nvPr/>
        </p:nvSpPr>
        <p:spPr>
          <a:xfrm>
            <a:off x="6278728" y="4069080"/>
            <a:ext cx="5364328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0" name="Virtual MOA model number circle"/>
          <p:cNvSpPr/>
          <p:nvPr/>
        </p:nvSpPr>
        <p:spPr>
          <a:xfrm>
            <a:off x="6553048" y="43434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53048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376008" y="434340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Virtual MOA model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553048" y="5074920"/>
            <a:ext cx="481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Is the virtual MOA model working as intended — are task routing and workflow integration clear and consistent?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What To Check Together</a:t>
            </a:r>
            <a:endParaRPr lang="en-US" sz="3600" dirty="0"/>
          </a:p>
        </p:txBody>
      </p:sp>
      <p:sp>
        <p:nvSpPr>
          <p:cNvPr id="3" name="Check 1 card"/>
          <p:cNvSpPr/>
          <p:nvPr/>
        </p:nvSpPr>
        <p:spPr>
          <a:xfrm>
            <a:off x="548640" y="1737360"/>
            <a:ext cx="3454298" cy="4023360"/>
          </a:xfrm>
          <a:prstGeom prst="roundRect">
            <a:avLst>
              <a:gd name="adj" fmla="val 3177"/>
            </a:avLst>
          </a:prstGeom>
          <a:solidFill>
            <a:schemeClr val="bg1"/>
          </a:solidFill>
          <a:ln/>
        </p:spPr>
      </p:sp>
      <p:sp>
        <p:nvSpPr>
          <p:cNvPr id="4" name="Check 1 circle"/>
          <p:cNvSpPr/>
          <p:nvPr/>
        </p:nvSpPr>
        <p:spPr>
          <a:xfrm>
            <a:off x="914400" y="214884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Check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2386584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337560"/>
            <a:ext cx="27227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feels accurate?</a:t>
            </a:r>
            <a:endParaRPr lang="en-US" sz="2200" dirty="0"/>
          </a:p>
        </p:txBody>
      </p:sp>
      <p:sp>
        <p:nvSpPr>
          <p:cNvPr id="7" name="Check 2 card"/>
          <p:cNvSpPr/>
          <p:nvPr/>
        </p:nvSpPr>
        <p:spPr>
          <a:xfrm>
            <a:off x="4368698" y="1737360"/>
            <a:ext cx="3454298" cy="4023360"/>
          </a:xfrm>
          <a:prstGeom prst="roundRect">
            <a:avLst>
              <a:gd name="adj" fmla="val 3177"/>
            </a:avLst>
          </a:prstGeom>
          <a:solidFill>
            <a:schemeClr val="bg1"/>
          </a:solidFill>
          <a:ln/>
        </p:spPr>
      </p:sp>
      <p:sp>
        <p:nvSpPr>
          <p:cNvPr id="8" name="Check 2 circle"/>
          <p:cNvSpPr/>
          <p:nvPr/>
        </p:nvSpPr>
        <p:spPr>
          <a:xfrm>
            <a:off x="4734458" y="2148840"/>
            <a:ext cx="914400" cy="9144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9" name="Check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202" y="2386584"/>
            <a:ext cx="438912" cy="4389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734458" y="3337560"/>
            <a:ext cx="27227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needs correction, nuance, or a different emphasis?</a:t>
            </a:r>
            <a:endParaRPr lang="en-US" sz="2200" dirty="0"/>
          </a:p>
        </p:txBody>
      </p:sp>
      <p:sp>
        <p:nvSpPr>
          <p:cNvPr id="11" name="Check 3 card"/>
          <p:cNvSpPr/>
          <p:nvPr/>
        </p:nvSpPr>
        <p:spPr>
          <a:xfrm>
            <a:off x="8188757" y="1737360"/>
            <a:ext cx="3454298" cy="4023360"/>
          </a:xfrm>
          <a:prstGeom prst="roundRect">
            <a:avLst>
              <a:gd name="adj" fmla="val 3177"/>
            </a:avLst>
          </a:prstGeom>
          <a:solidFill>
            <a:schemeClr val="bg1"/>
          </a:solidFill>
          <a:ln/>
        </p:spPr>
      </p:sp>
      <p:sp>
        <p:nvSpPr>
          <p:cNvPr id="12" name="Check 3 circle"/>
          <p:cNvSpPr/>
          <p:nvPr/>
        </p:nvSpPr>
        <p:spPr>
          <a:xfrm>
            <a:off x="8554517" y="214884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Check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2261" y="2386584"/>
            <a:ext cx="438912" cy="4389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554517" y="3337560"/>
            <a:ext cx="27227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should the research team look into next — especially given the absence of patient voices in Wave 1?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Next Steps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4"/>
                </a:solidFill>
              </a:rPr>
              <a:t>Closing the patient-voice gap and building a regular feedback rhythm</a:t>
            </a:r>
            <a:endParaRPr lang="en-US" sz="1600" dirty="0"/>
          </a:p>
        </p:txBody>
      </p:sp>
      <p:sp>
        <p:nvSpPr>
          <p:cNvPr id="4" name="Timeline connector"/>
          <p:cNvSpPr/>
          <p:nvPr/>
        </p:nvSpPr>
        <p:spPr>
          <a:xfrm>
            <a:off x="1815427" y="2514600"/>
            <a:ext cx="8560841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dash"/>
          </a:ln>
        </p:spPr>
      </p:sp>
      <p:sp>
        <p:nvSpPr>
          <p:cNvPr id="5" name="Wave 2: patient interviews circle"/>
          <p:cNvSpPr/>
          <p:nvPr/>
        </p:nvSpPr>
        <p:spPr>
          <a:xfrm>
            <a:off x="1312507" y="2011680"/>
            <a:ext cx="1005840" cy="10058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Wave 2: patient interview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4025" y="2273198"/>
            <a:ext cx="482803" cy="482803"/>
          </a:xfrm>
          <a:prstGeom prst="rect">
            <a:avLst/>
          </a:prstGeom>
        </p:spPr>
      </p:pic>
      <p:sp>
        <p:nvSpPr>
          <p:cNvPr id="7" name="Wave 2: patient interviews card"/>
          <p:cNvSpPr/>
          <p:nvPr/>
        </p:nvSpPr>
        <p:spPr>
          <a:xfrm>
            <a:off x="548640" y="3383280"/>
            <a:ext cx="2533574" cy="2651760"/>
          </a:xfrm>
          <a:prstGeom prst="roundRect">
            <a:avLst>
              <a:gd name="adj" fmla="val 4331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3611880"/>
            <a:ext cx="19849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Wave 2: patient interviews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343400"/>
            <a:ext cx="198493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Prioritize patient interviews to address the critical gap in patient experience data.</a:t>
            </a:r>
            <a:endParaRPr lang="en-US" sz="1400" dirty="0"/>
          </a:p>
        </p:txBody>
      </p:sp>
      <p:sp>
        <p:nvSpPr>
          <p:cNvPr id="10" name="MOA &amp; clinic manager circle"/>
          <p:cNvSpPr/>
          <p:nvPr/>
        </p:nvSpPr>
        <p:spPr>
          <a:xfrm>
            <a:off x="4166121" y="201168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MOA &amp; clinic manager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639" y="2273198"/>
            <a:ext cx="482803" cy="482803"/>
          </a:xfrm>
          <a:prstGeom prst="rect">
            <a:avLst/>
          </a:prstGeom>
        </p:spPr>
      </p:pic>
      <p:sp>
        <p:nvSpPr>
          <p:cNvPr id="12" name="MOA &amp; clinic manager card"/>
          <p:cNvSpPr/>
          <p:nvPr/>
        </p:nvSpPr>
        <p:spPr>
          <a:xfrm>
            <a:off x="3402254" y="3383280"/>
            <a:ext cx="2533574" cy="2651760"/>
          </a:xfrm>
          <a:prstGeom prst="roundRect">
            <a:avLst>
              <a:gd name="adj" fmla="val 4331"/>
            </a:avLst>
          </a:prstGeom>
          <a:solidFill>
            <a:schemeClr val="bg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3676574" y="3611880"/>
            <a:ext cx="19849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MOA &amp; clinic manager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3676574" y="4343400"/>
            <a:ext cx="198493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Interview at least one MOA and the clinic manager to capture management and frontline administrative perspectives.</a:t>
            </a:r>
            <a:endParaRPr lang="en-US" sz="1400" dirty="0"/>
          </a:p>
        </p:txBody>
      </p:sp>
      <p:sp>
        <p:nvSpPr>
          <p:cNvPr id="15" name="Bi-monthly check-ins circle"/>
          <p:cNvSpPr/>
          <p:nvPr/>
        </p:nvSpPr>
        <p:spPr>
          <a:xfrm>
            <a:off x="7019735" y="2011680"/>
            <a:ext cx="1005840" cy="10058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Bi-monthly check-ins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1253" y="2273198"/>
            <a:ext cx="482803" cy="482803"/>
          </a:xfrm>
          <a:prstGeom prst="rect">
            <a:avLst/>
          </a:prstGeom>
        </p:spPr>
      </p:pic>
      <p:sp>
        <p:nvSpPr>
          <p:cNvPr id="17" name="Bi-monthly check-ins card"/>
          <p:cNvSpPr/>
          <p:nvPr/>
        </p:nvSpPr>
        <p:spPr>
          <a:xfrm>
            <a:off x="6255868" y="3383280"/>
            <a:ext cx="2533574" cy="2651760"/>
          </a:xfrm>
          <a:prstGeom prst="roundRect">
            <a:avLst>
              <a:gd name="adj" fmla="val 4331"/>
            </a:avLst>
          </a:prstGeom>
          <a:solidFill>
            <a:schemeClr val="bg2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6530188" y="3611880"/>
            <a:ext cx="19849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Bi-monthly check-ins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6530188" y="4343400"/>
            <a:ext cx="198493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Check-in meeting every 2 months.</a:t>
            </a:r>
            <a:endParaRPr lang="en-US" sz="1400" dirty="0"/>
          </a:p>
        </p:txBody>
      </p:sp>
      <p:sp>
        <p:nvSpPr>
          <p:cNvPr id="20" name="Shared learning (TBD) circle"/>
          <p:cNvSpPr/>
          <p:nvPr/>
        </p:nvSpPr>
        <p:spPr>
          <a:xfrm>
            <a:off x="9873348" y="2011680"/>
            <a:ext cx="1005840" cy="10058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1" name="Shared learning (TBD)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4867" y="2273198"/>
            <a:ext cx="482803" cy="482803"/>
          </a:xfrm>
          <a:prstGeom prst="rect">
            <a:avLst/>
          </a:prstGeom>
        </p:spPr>
      </p:pic>
      <p:sp>
        <p:nvSpPr>
          <p:cNvPr id="22" name="Shared learning (TBD) card"/>
          <p:cNvSpPr/>
          <p:nvPr/>
        </p:nvSpPr>
        <p:spPr>
          <a:xfrm>
            <a:off x="9109481" y="3383280"/>
            <a:ext cx="2533574" cy="2651760"/>
          </a:xfrm>
          <a:prstGeom prst="roundRect">
            <a:avLst>
              <a:gd name="adj" fmla="val 4331"/>
            </a:avLst>
          </a:prstGeom>
          <a:solidFill>
            <a:schemeClr val="bg2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9383801" y="3611880"/>
            <a:ext cx="19849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Shared learning (TBD)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9383801" y="4343400"/>
            <a:ext cx="198493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Learning opportunity with other BC clinics and the UBC team.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aser Street Clinic">
  <a:themeElements>
    <a:clrScheme name="Fraser Street Clinic">
      <a:dk1>
        <a:srgbClr val="1E2B2F"/>
      </a:dk1>
      <a:lt1>
        <a:srgbClr val="FFFFFF"/>
      </a:lt1>
      <a:dk2>
        <a:srgbClr val="0E4D57"/>
      </a:dk2>
      <a:lt2>
        <a:srgbClr val="EAF2F2"/>
      </a:lt2>
      <a:accent1>
        <a:srgbClr val="0E4D57"/>
      </a:accent1>
      <a:accent2>
        <a:srgbClr val="D9622B"/>
      </a:accent2>
      <a:accent3>
        <a:srgbClr val="2A8C82"/>
      </a:accent3>
      <a:accent4>
        <a:srgbClr val="5E7376"/>
      </a:accent4>
      <a:accent5>
        <a:srgbClr val="F2C14E"/>
      </a:accent5>
      <a:accent6>
        <a:srgbClr val="B23A48"/>
      </a:accent6>
      <a:hlink>
        <a:srgbClr val="0E4D57"/>
      </a:hlink>
      <a:folHlink>
        <a:srgbClr val="5E7376"/>
      </a:folHlink>
    </a:clrScheme>
    <a:fontScheme name="Fraser Street Clinic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Fraser Street Medical Rapid Clinic Summary - 1st Wave</dc:title>
  <dc:subject>PptxGenJS Presentation</dc:subject>
  <dc:creator>Noriki Kamihiro</dc:creator>
  <cp:lastModifiedBy>Noriki Kamihiro</cp:lastModifiedBy>
  <cp:revision>1</cp:revision>
  <dcterms:created xsi:type="dcterms:W3CDTF">2026-10-04T22:17:42Z</dcterms:created>
  <dcterms:modified xsi:type="dcterms:W3CDTF">2026-10-04T22:17:42Z</dcterms:modified>
</cp:coreProperties>
</file>